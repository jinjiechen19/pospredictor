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57" autoAdjust="0"/>
  </p:normalViewPr>
  <p:slideViewPr>
    <p:cSldViewPr snapToGrid="0" snapToObjects="1">
      <p:cViewPr varScale="1">
        <p:scale>
          <a:sx n="139" d="100"/>
          <a:sy n="139" d="100"/>
        </p:scale>
        <p:origin x="736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Predicting Overall Survival Using Early PFS Evidence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Jinjie Chen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Internal Methodology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t>Overall Survival (OS) is the gold standard endpoint in oncology.</a:t>
            </a:r>
          </a:p>
          <a:p>
            <a:pPr lvl="0"/>
            <a:r>
              <a:t>However OS often matures much later than PFS.</a:t>
            </a:r>
          </a:p>
          <a:p>
            <a:pPr marL="0" lvl="0" indent="0">
              <a:buNone/>
            </a:pPr>
            <a:r>
              <a:t>Typical timeline:</a:t>
            </a:r>
          </a:p>
          <a:p>
            <a:pPr lvl="0"/>
            <a:r>
              <a:t>PFS readout: early</a:t>
            </a:r>
          </a:p>
          <a:p>
            <a:pPr lvl="0"/>
            <a:r>
              <a:t>OS readout: delayed</a:t>
            </a:r>
          </a:p>
          <a:p>
            <a:pPr marL="0" lvl="0" indent="0">
              <a:buNone/>
            </a:pPr>
            <a:r>
              <a:t>Goal:</a:t>
            </a:r>
          </a:p>
          <a:p>
            <a:pPr marL="0" lvl="0" indent="0">
              <a:buNone/>
            </a:pPr>
            <a:r>
              <a:t>Estimate the probability that the final OS result will be successful.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Decision Quantity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Define success as an OS hazard ratio threshold.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𝐻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𝑡𝑎𝑟𝑔𝑒𝑡</m:t>
                      </m:r>
                    </m:sub>
                  </m:sSub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/>
              <a:t>On the log scale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ℓ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𝑡𝑎𝑟𝑔𝑒𝑡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log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𝐻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𝑡𝑎𝑟𝑔𝑒𝑡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/>
              <a:t>Predictive probability of success: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𝑃𝑜𝑆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a:rPr>
                      <a:latin typeface="Cambria Math" panose="02040503050406030204" pitchFamily="18" charset="0"/>
                    </a:rPr>
                    <m:t>𝑃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&lt;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ℓ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𝑡𝑎𝑟𝑔𝑒𝑡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Available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Two types of information:</a:t>
            </a:r>
          </a:p>
          <a:p>
            <a:pPr marL="0" lvl="0" indent="0">
              <a:buNone/>
            </a:pPr>
            <a:r>
              <a:t>Historical trials</a:t>
            </a:r>
          </a:p>
          <a:p>
            <a:pPr marL="0" lvl="0" indent="0">
              <a:buNone/>
            </a:pPr>
            <a:r>
              <a:t>Current trial</a:t>
            </a:r>
          </a:p>
          <a:p>
            <a:pPr marL="0" lvl="0" indent="0">
              <a:buNone/>
            </a:pPr>
            <a:r>
              <a:t>Historical trials provide the relationship between OS and PFS.</a:t>
            </a:r>
          </a:p>
          <a:p>
            <a:pPr marL="0" lvl="0" indent="0">
              <a:buNone/>
            </a:pPr>
            <a:r>
              <a:t>Current trial provides early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Historical Trial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For each historical study we observe</a:t>
                </a:r>
              </a:p>
              <a:p>
                <a:pPr marL="0" lvl="0" indent="0">
                  <a:buNone/>
                </a:pPr>
                <a:r>
                  <a:rPr dirty="0"/>
                  <a:t>OS effect estimate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𝑂𝑆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PFS effect estimate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𝑃𝐹𝑆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Standard errors</a:t>
                </a:r>
                <a:r>
                  <a:rPr lang="en-US" dirty="0"/>
                  <a:t>: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𝑂𝑆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, </m:t>
                    </m:r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𝑃𝐹𝑆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dirty="0"/>
              </a:p>
              <a:p>
                <a:pPr marL="0" lvl="0" indent="0">
                  <a:buNone/>
                </a:pPr>
                <a:r>
                  <a:rPr dirty="0"/>
                  <a:t>Within study correlation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Vector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Define observed estimates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𝑃𝐹𝑆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:r>
              <a:t>True treatment effects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𝑃𝐹𝑆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Within Study Sampling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Assume asymptotic normality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|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Within study covariance matrix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𝑃𝐹𝑆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𝑃𝐹𝑆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𝑆</m:t>
                            </m:r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𝑃𝐹𝑆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mr>
                      </m:m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7. Between Study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Assume random effects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𝜂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where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𝜂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𝑂𝑆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𝑃𝐹𝑆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8. Between Study Covariance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𝑂𝑂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𝑂𝑃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𝑂𝑃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𝑃𝑃</m:t>
                                </m:r>
                              </m:sub>
                            </m:sSub>
                          </m:e>
                        </m:mr>
                      </m:m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:r>
              <a:t>This matrix captures</a:t>
            </a:r>
          </a:p>
          <a:p>
            <a:pPr lvl="0"/>
            <a:r>
              <a:t>heterogeneity across trials</a:t>
            </a:r>
          </a:p>
          <a:p>
            <a:pPr lvl="0"/>
            <a:r>
              <a:t>correlation between OS and PFS effects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9. Marginal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Combining levels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We estimate					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pPr marL="0" lvl="0" indent="0">
                  <a:buNone/>
                </a:pPr>
                <a:r>
                  <a:rPr lang="en-US" dirty="0"/>
                  <a:t>using multivariate meta analysis.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10.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Two approaches</a:t>
            </a:r>
          </a:p>
          <a:p>
            <a:pPr marL="0" lvl="0" indent="0">
              <a:buNone/>
            </a:pPr>
            <a:r>
              <a:t>REML</a:t>
            </a:r>
          </a:p>
          <a:p>
            <a:pPr marL="0" lvl="0" indent="0">
              <a:buNone/>
            </a:pPr>
            <a:r>
              <a:t>Method of Moments</a:t>
            </a:r>
          </a:p>
          <a:p>
            <a:pPr marL="0" lvl="0" indent="0">
              <a:buNone/>
            </a:pPr>
            <a:r>
              <a:t>Primary analysis uses REML.</a:t>
            </a:r>
          </a:p>
          <a:p>
            <a:pPr marL="0" lvl="0" indent="0">
              <a:buNone/>
            </a:pPr>
            <a:r>
              <a:t>Method of Moments is used as sensitivity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11. Current Trial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Current trial provides</a:t>
            </a:r>
          </a:p>
          <a:p>
            <a:pPr marL="0" lvl="0" indent="0">
              <a:buNone/>
            </a:pPr>
            <a:r>
              <a:rPr dirty="0"/>
              <a:t>PFS estimate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Sup>
                    <m:sSub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SupPr>
                    <m:e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𝑃𝐹𝑆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/>
              <a:t>Standard error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𝑃𝐹𝑆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</m:oMath>
              </m:oMathPara>
            </a14:m>
            <a:endParaRPr dirty="0"/>
          </a:p>
          <a:p>
            <a:pPr marL="0" lvl="0" indent="0">
              <a:buNone/>
            </a:pPr>
            <a:r>
              <a:rPr dirty="0"/>
              <a:t>Goal:</a:t>
            </a:r>
          </a:p>
          <a:p>
            <a:pPr marL="0" lvl="0" indent="0">
              <a:buNone/>
            </a:pPr>
            <a:r>
              <a:rPr dirty="0"/>
              <a:t>Predict the OS treatment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12. Conditional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Using multivariate normal theory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𝐸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|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𝑃𝐹𝑆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)=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𝜂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𝑂𝑆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𝑂𝑃</m:t>
                          </m:r>
                        </m:sub>
                      </m:sSub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𝑃𝑃</m:t>
                          </m:r>
                        </m:sub>
                      </m:sSub>
                    </m:den>
                  </m:f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𝑃𝐹𝑆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𝜂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𝑃𝐹𝑆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13. Conditional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𝑉𝑎𝑟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|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𝑃𝐹𝑆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)=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𝑂𝑂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−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𝑂𝑃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𝑃𝑃</m:t>
                          </m:r>
                        </m:sub>
                      </m:sSub>
                    </m:den>
                  </m:f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14. Predictive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Accounting for estimation uncertainty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Sup>
                    <m:sSub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𝜇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𝑝𝑟𝑒𝑑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𝑝𝑟𝑒𝑑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15. Probability of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Closed form probability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𝑃𝑜𝑆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Φ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𝑡𝑎𝑟𝑔𝑒𝑡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den>
                      </m:f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16. OS Interim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Sometimes interim OS is available.</a:t>
            </a:r>
          </a:p>
          <a:p>
            <a:pPr marL="0" lvl="0" indent="0">
              <a:buNone/>
            </a:pPr>
            <a:r>
              <a:t>Observed interim estimate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Sup>
                    <m:sSub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SupPr>
                    <m:e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𝑖𝑛𝑡</m:t>
                      </m:r>
                    </m:sup>
                  </m:sSubSup>
                </m:oMath>
              </m:oMathPara>
            </a14:m>
            <a:endParaRPr/>
          </a:p>
          <a:p>
            <a:pPr marL="0" lvl="0" indent="0">
              <a:buNone/>
            </a:pPr>
            <a:r>
              <a:t>Standard error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𝑂𝑆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𝑖𝑛𝑡</m:t>
                      </m:r>
                    </m:sup>
                  </m:sSubSup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17. Joint Updating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Observed data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𝑂𝑆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𝑖𝑛𝑡</m:t>
                                </m:r>
                              </m:sup>
                            </m:sSubSup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𝑃𝐹𝑆</m:t>
                                </m:r>
                              </m:sub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mr>
                      </m:m>
                    </m:e>
                  </m: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18. Posterior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𝜂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Posterior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|</m:t>
                  </m:r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∼</m:t>
                  </m:r>
                  <m:r>
                    <a:rPr>
                      <a:latin typeface="Cambria Math" panose="02040503050406030204" pitchFamily="18" charset="0"/>
                    </a:rPr>
                    <m:t>𝑁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,</m:t>
                  </m:r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19. Posterior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r>
                    <a:rPr>
                      <a:latin typeface="Cambria Math" panose="02040503050406030204" pitchFamily="18" charset="0"/>
                    </a:rPr>
                    <m:t>=(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sup>
                  </m:sSup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sup>
                  </m:sSup>
                </m:oMath>
              </m:oMathPara>
            </a14:m>
            <a:endParaRPr dirty="0"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𝑚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a:rPr>
                      <a:latin typeface="Cambria Math" panose="02040503050406030204" pitchFamily="18" charset="0"/>
                    </a:rPr>
                    <m:t>𝑉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𝜂</m:t>
                  </m:r>
                  <m:r>
                    <a:rPr>
                      <a:latin typeface="Cambria Math" panose="02040503050406030204" pitchFamily="18" charset="0"/>
                    </a:rPr>
                    <m:t>+</m:t>
                  </m:r>
                  <m:sSup>
                    <m:s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−1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𝑦</m:t>
                  </m:r>
                  <m:r>
                    <a:rPr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20.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Framework</a:t>
            </a:r>
          </a:p>
          <a:p>
            <a:pPr marL="0" lvl="0" indent="0">
              <a:buNone/>
            </a:pPr>
            <a:r>
              <a:t>1 Historical evidence informs OS–PFS relationship</a:t>
            </a:r>
          </a:p>
          <a:p>
            <a:pPr marL="0" lvl="0" indent="0">
              <a:buNone/>
            </a:pPr>
            <a:r>
              <a:t>2 Current PFS predicts OS</a:t>
            </a:r>
          </a:p>
          <a:p>
            <a:pPr marL="0" lvl="0" indent="0">
              <a:buNone/>
            </a:pPr>
            <a:r>
              <a:t>3 Interim OS can refine prediction</a:t>
            </a:r>
          </a:p>
          <a:p>
            <a:pPr marL="0" lvl="0" indent="0">
              <a:buNone/>
            </a:pPr>
            <a:r>
              <a:t>4 PoS provides a quantitative decision metric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Macintosh PowerPoint</Application>
  <PresentationFormat>On-screen Show (16:9)</PresentationFormat>
  <Paragraphs>103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Office Theme</vt:lpstr>
      <vt:lpstr>Predicting Overall Survival Using Early PFS Evidence</vt:lpstr>
      <vt:lpstr>1. Motivation</vt:lpstr>
      <vt:lpstr>2. Decision Quantity</vt:lpstr>
      <vt:lpstr>3. Available Data</vt:lpstr>
      <vt:lpstr>4. Historical Trial Data</vt:lpstr>
      <vt:lpstr>5. Vector Representation</vt:lpstr>
      <vt:lpstr>6. Within Study Sampling Model</vt:lpstr>
      <vt:lpstr>7. Between Study Model</vt:lpstr>
      <vt:lpstr>8. Between Study Covariance</vt:lpstr>
      <vt:lpstr>9. Marginal Distribution</vt:lpstr>
      <vt:lpstr>10. Estimation</vt:lpstr>
      <vt:lpstr>11. Current Trial Evidence</vt:lpstr>
      <vt:lpstr>12. Conditional Prediction</vt:lpstr>
      <vt:lpstr>13. Conditional Variance</vt:lpstr>
      <vt:lpstr>14. Predictive Distribution</vt:lpstr>
      <vt:lpstr>15. Probability of Success</vt:lpstr>
      <vt:lpstr>16. OS Interim Information</vt:lpstr>
      <vt:lpstr>17. Joint Updating</vt:lpstr>
      <vt:lpstr>18. Posterior Distribution</vt:lpstr>
      <vt:lpstr>19. Posterior Parameters</vt:lpstr>
      <vt:lpstr>20. 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Overall Survival Using Early PFS Evidence</dc:title>
  <dc:creator>Jinjie Chen</dc:creator>
  <cp:keywords/>
  <cp:lastModifiedBy>Chen, Jinjie</cp:lastModifiedBy>
  <cp:revision>1</cp:revision>
  <dcterms:created xsi:type="dcterms:W3CDTF">2026-03-05T15:03:58Z</dcterms:created>
  <dcterms:modified xsi:type="dcterms:W3CDTF">2026-03-05T15:31:29Z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Internal Methodology Seminar</vt:lpwstr>
  </property>
</Properties>
</file>